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F2A2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 (80%)</c:v>
                </c:pt>
                <c:pt idx="1">
                  <c:v>Testing (20%)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F2A20C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4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2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6C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Cycle</c:v>
                  </c:pt>
                  <c:pt idx="1">
                    <c:v>battery_id</c:v>
                  </c:pt>
                  <c:pt idx="2">
                    <c:v>Others
(Voltage, Temp,
Current, etc.)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95.19</c:v>
                </c:pt>
                <c:pt idx="1">
                  <c:v>4.6</c:v>
                </c:pt>
                <c:pt idx="2">
                  <c:v>0.21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1200" u="none">
                  <a:solidFill>
                    <a:srgbClr val="1624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624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331720"/>
            <a:ext cx="1920240" cy="1920240"/>
          </a:xfrm>
          <a:prstGeom prst="ellipse">
            <a:avLst/>
          </a:prstGeom>
          <a:solidFill>
            <a:srgbClr val="0F2E4F"/>
          </a:solidFill>
          <a:ln w="19050">
            <a:solidFill>
              <a:srgbClr val="1B998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7889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ENGINEERING PROJECT (CEP)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69164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Health Prediction and Remaining Useful Life Estimation Using Machine Learning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02920" y="3794760"/>
            <a:ext cx="914400" cy="0"/>
          </a:xfrm>
          <a:prstGeom prst="line">
            <a:avLst/>
          </a:prstGeom>
          <a:noFill/>
          <a:ln w="38100">
            <a:solidFill>
              <a:srgbClr val="F2A2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069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Rabeea Anjum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23CSE09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Muhammad Bux Alvi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" y="5897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Systems Engineering  |  Faculty of Engineering &amp; Technology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ML-Based Approach to Battery Degradation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627632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Lithium-ion batteries are the backbone of modern energy storage — from electric vehicles to consumer electronics and renewable-energy storage — but their performance degrades progressively with repeated charge-discharge cycling.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machine learning-based Battery Management System (BMS) that predicts two targets simultaneously: State of Health (SOH) and Remaining Useful Life (RUL).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based on seven operational parameters: charging current, charging voltage, charging temperature, discharging current, discharging voltage, discharging temperature, and number of cycles.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combines Exploratory Data Analysis, IQR-based outlier detection, feature engineering, StandardScaler normalization, and a Random Forest multi-output regression model trained on real cycling data from NASA battery cells B5, B6, and B7.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showed good predictive performance, suitable for intelligent battery analytics and real-time BMS use cases.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1691640"/>
            <a:ext cx="3337560" cy="233172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01000" y="1938528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95.19%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75320" y="278892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predictive feature importance comes from cycle count alone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425196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E3F1EE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4434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32520" y="438912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NASA battery cells (B5, B6, B7) across hundreds of charge-discharge cycles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Battery Health Matters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6355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Lithium-ion batteries are a strategic player in modern engineering, driving the fast global growth of electric vehicles, portable electronics, and grid-scale energy storage.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other chemistries, these electrochemical cells offer high energy density, low self-discharge, and long cycle life.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inevitably deteriorates through complex electrochemical processes: lithium plating, solid-electrolyte interphase (SEI) layer formation, loss of active electrode material, and structural fatigue of the electrode lattice.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unmonitored, this degradation can cause unexpected capacity failure and rising internal resistance — and in extreme cases, thermal runaway events that pose a serious safety risk.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60920" y="1691640"/>
            <a:ext cx="39136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62088" y="1888236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02539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0" y="1691640"/>
            <a:ext cx="2816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60920" y="2852928"/>
            <a:ext cx="39136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562088" y="3049524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318668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852928"/>
            <a:ext cx="2816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Electronics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60920" y="4014216"/>
            <a:ext cx="391363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562088" y="4210812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34797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4014216"/>
            <a:ext cx="28163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Storage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360920" y="5221224"/>
            <a:ext cx="3913632" cy="960120"/>
          </a:xfrm>
          <a:prstGeom prst="roundRect">
            <a:avLst>
              <a:gd name="adj" fmla="val 9524"/>
            </a:avLst>
          </a:prstGeom>
          <a:solidFill>
            <a:srgbClr val="FCEAE6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504688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83880" y="5312664"/>
            <a:ext cx="2907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degradation risks thermal runaway — a critical safety concern.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Lab Models to Data-Driven Learning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AEE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BMS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electrochemical models or look-up-table approaches to estimate battery health.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controlled laboratory conditions.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at handling real-world variability — operating temperature, load patterns, and manufacturing tolerances across individual cells.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035040" y="1691640"/>
            <a:ext cx="5166360" cy="4160520"/>
          </a:xfrm>
          <a:prstGeom prst="roundRect">
            <a:avLst>
              <a:gd name="adj" fmla="val 263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2011680"/>
            <a:ext cx="640080" cy="64008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945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Machine Learning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55080" y="288036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an excellent alternative — or augmenting tool — to physics-based models.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highly nonlinear degradation behaviour directly from operational data.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basis of the multi-output Random Forest approach used in this project.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Intelligent System for Degradation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4813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Battery Management System that analyses degradation using machine learning, predicting State of Health and Remaining Useful Life from seven operational parameters.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INPUTS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679192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current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voltage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temperature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Discharging current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Discharging voltage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Discharging temperature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69080" y="3520440"/>
            <a:ext cx="502920" cy="457200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148840"/>
            <a:ext cx="2331720" cy="3200400"/>
          </a:xfrm>
          <a:prstGeom prst="roundRect">
            <a:avLst>
              <a:gd name="adj" fmla="val 3922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72100" y="2468880"/>
            <a:ext cx="822960" cy="82296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27157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09160" y="34747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995160" y="3520440"/>
            <a:ext cx="502920" cy="457200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7543800" y="21488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E3F1EE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0" y="2313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OUTPUTS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80720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Health (SOH)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ratio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931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38130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(RUL)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remaining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0" y="4800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smart battery degradation prediction &amp; lifecycle management.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2920" y="5669280"/>
            <a:ext cx="2153412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" y="5669280"/>
            <a:ext cx="21534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784348" y="5669280"/>
            <a:ext cx="1719986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2784348" y="5669280"/>
            <a:ext cx="17199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632350" y="5669280"/>
            <a:ext cx="1431036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8" name="Text 22"/>
          <p:cNvSpPr/>
          <p:nvPr/>
        </p:nvSpPr>
        <p:spPr>
          <a:xfrm>
            <a:off x="4632350" y="5669280"/>
            <a:ext cx="14310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191402" y="5669280"/>
            <a:ext cx="2008937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0" name="Text 24"/>
          <p:cNvSpPr/>
          <p:nvPr/>
        </p:nvSpPr>
        <p:spPr>
          <a:xfrm>
            <a:off x="6191402" y="5669280"/>
            <a:ext cx="20089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Multi-Output Regression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8328355" y="5669280"/>
            <a:ext cx="2081174" cy="36576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2" name="Text 26"/>
          <p:cNvSpPr/>
          <p:nvPr/>
        </p:nvSpPr>
        <p:spPr>
          <a:xfrm>
            <a:off x="8328355" y="5669280"/>
            <a:ext cx="20811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947672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84832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66160" y="1856232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0" name="Text 6"/>
          <p:cNvSpPr/>
          <p:nvPr/>
        </p:nvSpPr>
        <p:spPr>
          <a:xfrm>
            <a:off x="3566160" y="1856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2606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health of lithium-ion batteries over charging cycles.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34256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1947672"/>
            <a:ext cx="566928" cy="566928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084832"/>
            <a:ext cx="292608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397496" y="1856232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1"/>
          <p:cNvSpPr/>
          <p:nvPr/>
        </p:nvSpPr>
        <p:spPr>
          <a:xfrm>
            <a:off x="7397496" y="1856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62856" y="2606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accurate estimation of battery Remaining Useful Life (RUL).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65592" y="16916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21624" y="1947672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084832"/>
            <a:ext cx="292608" cy="29260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1228832" y="1856232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16"/>
          <p:cNvSpPr/>
          <p:nvPr/>
        </p:nvSpPr>
        <p:spPr>
          <a:xfrm>
            <a:off x="11228832" y="1856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394192" y="26060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patterns of thermal and electrical behaviour.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2418588" y="37947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674620" y="4050792"/>
            <a:ext cx="566928" cy="566928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780" y="4187952"/>
            <a:ext cx="292608" cy="29260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481828" y="3959352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8" name="Text 21"/>
          <p:cNvSpPr/>
          <p:nvPr/>
        </p:nvSpPr>
        <p:spPr>
          <a:xfrm>
            <a:off x="5481828" y="3959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2647188" y="4709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degradation of different battery cells.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49924" y="37947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05956" y="4050792"/>
            <a:ext cx="566928" cy="566928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187952"/>
            <a:ext cx="292608" cy="292608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313164" y="3959352"/>
            <a:ext cx="329184" cy="329184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4" name="Text 26"/>
          <p:cNvSpPr/>
          <p:nvPr/>
        </p:nvSpPr>
        <p:spPr>
          <a:xfrm>
            <a:off x="9313164" y="3959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478524" y="4709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smart, AI-based data analytics system that can be integrated with a BMS.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481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NASA Ames Prognostics Data Repository: lithium-ion battery operation across many charge-discharge cycles for three battery cells — B5, B6, and B7 — with eight electrical and thermal parameters recorded per cycle.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1214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2316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identifier (B5, B6, B7)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Charge-discharge cycle 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current (Amperes)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voltage (Volts)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temperature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Discharging current (Amperes)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Discharging voltage (Volts)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Discharging temperature (°C)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269480" y="2121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42316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of Health (battery capacity ratio)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Useful Life (cycles remaining)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269480" y="388620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E3F1EE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06908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73568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Cells Studied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7498080" y="461772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/>
        </p:spPr>
      </p:sp>
      <p:sp>
        <p:nvSpPr>
          <p:cNvPr id="15" name="Text 9"/>
          <p:cNvSpPr/>
          <p:nvPr/>
        </p:nvSpPr>
        <p:spPr>
          <a:xfrm>
            <a:off x="7498080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641080" y="461772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/>
        </p:spPr>
      </p:sp>
      <p:sp>
        <p:nvSpPr>
          <p:cNvPr id="17" name="Text 11"/>
          <p:cNvSpPr/>
          <p:nvPr/>
        </p:nvSpPr>
        <p:spPr>
          <a:xfrm>
            <a:off x="8641080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B6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9784080" y="4617720"/>
            <a:ext cx="1005840" cy="502920"/>
          </a:xfrm>
          <a:prstGeom prst="roundRect">
            <a:avLst>
              <a:gd name="adj" fmla="val 18182"/>
            </a:avLst>
          </a:prstGeom>
          <a:solidFill>
            <a:srgbClr val="0B2545"/>
          </a:solidFill>
          <a:ln/>
        </p:spPr>
      </p:sp>
      <p:sp>
        <p:nvSpPr>
          <p:cNvPr id="19" name="Text 13"/>
          <p:cNvSpPr/>
          <p:nvPr/>
        </p:nvSpPr>
        <p:spPr>
          <a:xfrm>
            <a:off x="9784080" y="46177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B7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498080" y="530352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charge-discharge cycles per cell provide a real-world basis for SOH and RUL modelling.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Machine Learning Pipeline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2471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8" name="Text 5"/>
          <p:cNvSpPr/>
          <p:nvPr/>
        </p:nvSpPr>
        <p:spPr>
          <a:xfrm>
            <a:off x="112471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97510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075688" y="233629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12" name="Shape 8"/>
          <p:cNvSpPr/>
          <p:nvPr/>
        </p:nvSpPr>
        <p:spPr>
          <a:xfrm>
            <a:off x="237744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9923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14" name="Text 10"/>
          <p:cNvSpPr/>
          <p:nvPr/>
        </p:nvSpPr>
        <p:spPr>
          <a:xfrm>
            <a:off x="299923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197510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3230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950208" y="233629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18" name="Shape 13"/>
          <p:cNvSpPr/>
          <p:nvPr/>
        </p:nvSpPr>
        <p:spPr>
          <a:xfrm>
            <a:off x="425196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7375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20" name="Text 15"/>
          <p:cNvSpPr/>
          <p:nvPr/>
        </p:nvSpPr>
        <p:spPr>
          <a:xfrm>
            <a:off x="487375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97510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0682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824728" y="233629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24" name="Shape 18"/>
          <p:cNvSpPr/>
          <p:nvPr/>
        </p:nvSpPr>
        <p:spPr>
          <a:xfrm>
            <a:off x="612648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4827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26" name="Text 20"/>
          <p:cNvSpPr/>
          <p:nvPr/>
        </p:nvSpPr>
        <p:spPr>
          <a:xfrm>
            <a:off x="674827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197510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8134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699248" y="233629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30" name="Shape 23"/>
          <p:cNvSpPr/>
          <p:nvPr/>
        </p:nvSpPr>
        <p:spPr>
          <a:xfrm>
            <a:off x="800100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62279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32" name="Text 25"/>
          <p:cNvSpPr/>
          <p:nvPr/>
        </p:nvSpPr>
        <p:spPr>
          <a:xfrm>
            <a:off x="862279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1975104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5586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(IQR)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9573768" y="233629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36" name="Shape 28"/>
          <p:cNvSpPr/>
          <p:nvPr/>
        </p:nvSpPr>
        <p:spPr>
          <a:xfrm>
            <a:off x="9875520" y="1828800"/>
            <a:ext cx="15727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0497312" y="168249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38" name="Text 30"/>
          <p:cNvSpPr/>
          <p:nvPr/>
        </p:nvSpPr>
        <p:spPr>
          <a:xfrm>
            <a:off x="10497312" y="168249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9024" y="1975104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930384" y="239572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1060704" y="3977640"/>
            <a:ext cx="175564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773936" y="383133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43" name="Text 34"/>
          <p:cNvSpPr/>
          <p:nvPr/>
        </p:nvSpPr>
        <p:spPr>
          <a:xfrm>
            <a:off x="1773936" y="38313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648" y="4123944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115568" y="454456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2816352" y="448513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47" name="Shape 37"/>
          <p:cNvSpPr/>
          <p:nvPr/>
        </p:nvSpPr>
        <p:spPr>
          <a:xfrm>
            <a:off x="3118104" y="3977640"/>
            <a:ext cx="175564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3831336" y="383133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49" name="Text 39"/>
          <p:cNvSpPr/>
          <p:nvPr/>
        </p:nvSpPr>
        <p:spPr>
          <a:xfrm>
            <a:off x="3831336" y="38313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3048" y="4123944"/>
            <a:ext cx="365760" cy="36576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3172968" y="454456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 / 20)</a:t>
            </a:r>
            <a:endParaRPr lang="en-US" sz="1050" dirty="0"/>
          </a:p>
        </p:txBody>
      </p:sp>
      <p:sp>
        <p:nvSpPr>
          <p:cNvPr id="52" name="Shape 41"/>
          <p:cNvSpPr/>
          <p:nvPr/>
        </p:nvSpPr>
        <p:spPr>
          <a:xfrm>
            <a:off x="4873752" y="448513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53" name="Shape 42"/>
          <p:cNvSpPr/>
          <p:nvPr/>
        </p:nvSpPr>
        <p:spPr>
          <a:xfrm>
            <a:off x="5175504" y="3977640"/>
            <a:ext cx="175564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54" name="Shape 43"/>
          <p:cNvSpPr/>
          <p:nvPr/>
        </p:nvSpPr>
        <p:spPr>
          <a:xfrm>
            <a:off x="5888736" y="383133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55" name="Text 44"/>
          <p:cNvSpPr/>
          <p:nvPr/>
        </p:nvSpPr>
        <p:spPr>
          <a:xfrm>
            <a:off x="5888736" y="38313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0448" y="4123944"/>
            <a:ext cx="365760" cy="36576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230368" y="454456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Model</a:t>
            </a:r>
            <a:endParaRPr lang="en-US" sz="1050" dirty="0"/>
          </a:p>
        </p:txBody>
      </p:sp>
      <p:sp>
        <p:nvSpPr>
          <p:cNvPr id="58" name="Shape 46"/>
          <p:cNvSpPr/>
          <p:nvPr/>
        </p:nvSpPr>
        <p:spPr>
          <a:xfrm>
            <a:off x="6931152" y="448513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59" name="Shape 47"/>
          <p:cNvSpPr/>
          <p:nvPr/>
        </p:nvSpPr>
        <p:spPr>
          <a:xfrm>
            <a:off x="7232904" y="3977640"/>
            <a:ext cx="175564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7946136" y="383133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61" name="Text 49"/>
          <p:cNvSpPr/>
          <p:nvPr/>
        </p:nvSpPr>
        <p:spPr>
          <a:xfrm>
            <a:off x="7946136" y="38313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7848" y="4123944"/>
            <a:ext cx="365760" cy="36576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7287768" y="454456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64" name="Shape 51"/>
          <p:cNvSpPr/>
          <p:nvPr/>
        </p:nvSpPr>
        <p:spPr>
          <a:xfrm>
            <a:off x="8988552" y="4485132"/>
            <a:ext cx="301752" cy="219456"/>
          </a:xfrm>
          <a:prstGeom prst="rightArrow">
            <a:avLst/>
          </a:prstGeom>
          <a:solidFill>
            <a:srgbClr val="1B998B"/>
          </a:solidFill>
          <a:ln/>
        </p:spPr>
      </p:sp>
      <p:sp>
        <p:nvSpPr>
          <p:cNvPr id="65" name="Shape 52"/>
          <p:cNvSpPr/>
          <p:nvPr/>
        </p:nvSpPr>
        <p:spPr>
          <a:xfrm>
            <a:off x="9290304" y="3977640"/>
            <a:ext cx="175564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66" name="Shape 53"/>
          <p:cNvSpPr/>
          <p:nvPr/>
        </p:nvSpPr>
        <p:spPr>
          <a:xfrm>
            <a:off x="10003536" y="3831336"/>
            <a:ext cx="329184" cy="329184"/>
          </a:xfrm>
          <a:prstGeom prst="ellipse">
            <a:avLst/>
          </a:prstGeom>
          <a:solidFill>
            <a:srgbClr val="F2A20C"/>
          </a:solidFill>
          <a:ln/>
        </p:spPr>
      </p:sp>
      <p:sp>
        <p:nvSpPr>
          <p:cNvPr id="67" name="Text 54"/>
          <p:cNvSpPr/>
          <p:nvPr/>
        </p:nvSpPr>
        <p:spPr>
          <a:xfrm>
            <a:off x="10003536" y="38313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5248" y="4123944"/>
            <a:ext cx="365760" cy="365760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9345168" y="4544568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70" name="Shape 56"/>
          <p:cNvSpPr/>
          <p:nvPr/>
        </p:nvSpPr>
        <p:spPr>
          <a:xfrm>
            <a:off x="5760720" y="3136392"/>
            <a:ext cx="274320" cy="384048"/>
          </a:xfrm>
          <a:prstGeom prst="downArrow">
            <a:avLst/>
          </a:prstGeom>
          <a:solidFill>
            <a:srgbClr val="1B998B"/>
          </a:solidFill>
          <a:ln/>
        </p:spPr>
      </p:sp>
      <p:sp>
        <p:nvSpPr>
          <p:cNvPr id="71" name="Text 57"/>
          <p:cNvSpPr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end-to-end in Python (pandas, NumPy, scikit-learn, seaborn) within Google Colab.</a:t>
            </a:r>
            <a:endParaRPr lang="en-US" sz="1200" dirty="0"/>
          </a:p>
        </p:txBody>
      </p:sp>
      <p:sp>
        <p:nvSpPr>
          <p:cNvPr id="72" name="Text 58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73" name="Text 59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 Before Modelling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929384"/>
            <a:ext cx="530352" cy="530352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57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92808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77240" y="2560320"/>
            <a:ext cx="48143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relationships among all numerical variables using a Seaborn heatmap, highlighting which parameters move together.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323076" y="169164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79108" y="1929384"/>
            <a:ext cx="530352" cy="530352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124" y="20574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83196" y="1892808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vs. State of Health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97396" y="2560320"/>
            <a:ext cx="48143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plots of SOH against cycle number for each battery reveal a consistent degradation trend as cycling continues.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502920" y="38862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" y="4123944"/>
            <a:ext cx="530352" cy="530352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51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087368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vs. Remaining Useful Life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77240" y="4754880"/>
            <a:ext cx="48143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plots show RUL steadily decreasing as the battery accumulates more charge-discharge cycles.</a:t>
            </a:r>
            <a:endParaRPr lang="en-US" sz="1180" dirty="0"/>
          </a:p>
        </p:txBody>
      </p:sp>
      <p:sp>
        <p:nvSpPr>
          <p:cNvPr id="21" name="Shape 15"/>
          <p:cNvSpPr/>
          <p:nvPr/>
        </p:nvSpPr>
        <p:spPr>
          <a:xfrm>
            <a:off x="6323076" y="3886200"/>
            <a:ext cx="5362956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79108" y="4123944"/>
            <a:ext cx="530352" cy="530352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124" y="42519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83196" y="4087368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Battery Type vs. SOH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597396" y="4754880"/>
            <a:ext cx="48143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plot examines charging temperature against SOH, while a boxplot compares SOH distribution across battery_id.</a:t>
            </a:r>
            <a:endParaRPr lang="en-US" sz="1180" dirty="0"/>
          </a:p>
        </p:txBody>
      </p:sp>
      <p:sp>
        <p:nvSpPr>
          <p:cNvPr id="26" name="Text 19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— IQR Method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737360"/>
            <a:ext cx="6309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non-parametric Interquartile Range (IQR) method was used to flag extreme values — a robust approach for sensor data.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key numerical columns: Battery Charging Time (BCt), SOH, and RUL.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column: Q1 (25th percentile) and Q3 (75th percentile) are computed, and IQR = Q3 − Q1.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falling below Q1 − 1.5×IQR or above Q3 + 1.5×IQR are flagged as outliers.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300"/>
              </a:spcAft>
              <a:buSzPct val="100000"/>
              <a:buChar char="●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were used to visualize the spread and distribution of each column before formal IQR screening.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60920" y="1737360"/>
            <a:ext cx="3794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1920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Visualization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589520" y="2514600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· SOH · RUL examined individually to check spread, skew, and possible extreme values.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60920" y="3886200"/>
            <a:ext cx="3794760" cy="2240280"/>
          </a:xfrm>
          <a:prstGeom prst="roundRect">
            <a:avLst>
              <a:gd name="adj" fmla="val 489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41148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48463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Significant Outliers Found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635240" y="534924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NASA dataset's numerical features passed IQR screening cleanly, confirming good data quality before modelling.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Differential Stress Signals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engineered features were derived from the raw electrical and thermal readings, capturing differential conditions during charging and discharging — well-known indicators of battery degradation.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402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97380" y="2514600"/>
            <a:ext cx="731520" cy="7315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697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3429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Voltage_Diff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3886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A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chV − disV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77240" y="4526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voltage between charging and discharging phases.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34256" y="22402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28716" y="2514600"/>
            <a:ext cx="731520" cy="7315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697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34256" y="3429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Temp_Diff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4654296" y="388620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9" name="Text 14"/>
          <p:cNvSpPr/>
          <p:nvPr/>
        </p:nvSpPr>
        <p:spPr>
          <a:xfrm>
            <a:off x="4654296" y="3886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A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chT − disT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608576" y="4526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thermal response across charge / discharge.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165592" y="22402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560052" y="2514600"/>
            <a:ext cx="731520" cy="7315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932" y="26974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65592" y="34290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Current_Diff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8485632" y="388620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8485632" y="3886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A2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 − disI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8439912" y="45262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current draw between charging and discharging.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 &amp; Train-Test Split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4526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magnitudes normalised to zero mean and unit variance using Scikit-Learn's StandardScaler.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tree-based models like Random Forest don't typically need scaling.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anyway as part of a professional preprocessing pipeline — for reproducibility and to support future comparisons with distance- or gradient-based models.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691640"/>
            <a:ext cx="5166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55080" y="2011680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945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01168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8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55080" y="274320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/>
          <p:nvPr/>
        </p:nvSpPr>
        <p:spPr>
          <a:xfrm>
            <a:off x="8823960" y="288036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80%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20%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random_state = 42 ensures reproducible splits across runs.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multi-output ensemble regression model — RandomForestRegressor — was chosen for this study. During training it builds many decision trees and averages their predictions, giving robust and interpretable performance widely applied in battery health prediction tasks.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47472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490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3345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n_estimators</a:t>
            </a:r>
            <a:endParaRPr lang="en-US" sz="1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2A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08960" y="443484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3345C"/>
          </a:solidFill>
          <a:ln/>
        </p:spPr>
      </p:sp>
      <p:sp>
        <p:nvSpPr>
          <p:cNvPr id="13" name="Text 9"/>
          <p:cNvSpPr/>
          <p:nvPr/>
        </p:nvSpPr>
        <p:spPr>
          <a:xfrm>
            <a:off x="3108960" y="45262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random_state</a:t>
            </a:r>
            <a:endParaRPr lang="en-US" sz="1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2A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43600" y="1691640"/>
            <a:ext cx="5745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0" y="2148840"/>
            <a:ext cx="57451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9904" y="2240280"/>
            <a:ext cx="457200" cy="45720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500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2148840"/>
            <a:ext cx="4830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among features and targets.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943600" y="2916936"/>
            <a:ext cx="57451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9904" y="3008376"/>
            <a:ext cx="457200" cy="45720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11810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2916936"/>
            <a:ext cx="4830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tabular sensor data.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943600" y="3685032"/>
            <a:ext cx="57451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89904" y="3776472"/>
            <a:ext cx="457200" cy="45720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388620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20840" y="3685032"/>
            <a:ext cx="4830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supports multi-output regression.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943600" y="4453128"/>
            <a:ext cx="57451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089904" y="4544568"/>
            <a:ext cx="457200" cy="45720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4654296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20840" y="4453128"/>
            <a:ext cx="4830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the results.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43600" y="5221224"/>
            <a:ext cx="57451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7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089904" y="5312664"/>
            <a:ext cx="457200" cy="45720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5422392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20840" y="5221224"/>
            <a:ext cx="4830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built-in feature importance.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Multi-Output Prediction Performance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36880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19860" y="2057400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308" y="22128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6880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4040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38048" y="370332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magnitude of prediction errors.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07512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90492" y="2057400"/>
            <a:ext cx="640080" cy="64008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940" y="221284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07512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544672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608680" y="370332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larger errors more heavily.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78144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61124" y="2057400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572" y="22128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78144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315304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379312" y="370332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in the original units.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48776" y="178308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931756" y="2057400"/>
            <a:ext cx="640080" cy="640080"/>
          </a:xfrm>
          <a:prstGeom prst="ellipse">
            <a:avLst/>
          </a:prstGeom>
          <a:solidFill>
            <a:srgbClr val="13345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204" y="22128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48776" y="2834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085936" y="331927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149944" y="3703320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 by the model.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2920" y="493776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E3F1EE"/>
          </a:solidFill>
          <a:ln/>
          <a:effectLst>
            <a:outerShdw sx="100000" sy="100000" kx="0" ky="0" algn="bl" rotWithShape="0" blurRad="88900" dist="38100" dir="2700000">
              <a:srgbClr val="0B2545">
                <a:alpha val="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157216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498348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Actual-vs-Predicted plots were generated for both SOH and RUL, visually confirming how closely model predictions track the true values on the held-out test set.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Analysis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91640"/>
          <a:ext cx="57607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583680" y="1691640"/>
            <a:ext cx="5105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 Random Forest is derived from the mean decrease in impurity (MDI) across all trees — a transparent, model-internal measure of relevance.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583680" y="2697480"/>
            <a:ext cx="5105095" cy="960120"/>
          </a:xfrm>
          <a:prstGeom prst="roundRect">
            <a:avLst>
              <a:gd name="adj" fmla="val 952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2700000">
              <a:srgbClr val="0B2545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858000" y="2697480"/>
            <a:ext cx="45564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drives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2A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95.19%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predictive importance — far ahead of battery_id (4.60%) and all other measured signals (&lt; 0.21%).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0" y="3886200"/>
            <a:ext cx="51050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findings reported by Severson et al. and Nuhic et al. in independent battery prognostics studies.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consistent with the electrochemical understanding that SEI layer formation and lithium plating are inherently cycle-dependent.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similarly identified cycle number as the principal driver of capacity reduction, using relevance vector machines.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" y="1929384"/>
            <a:ext cx="502920" cy="5029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57400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745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Patterns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22960" y="265176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declines as cycling continues.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continuously decreases as batteries age.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is shaped by multiple stresses; temperature is not the dominant factor in this dataset.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is the most reliable predictor of degradation (~95%).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behaviour differs across battery cells B5, B6, and B7.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69164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65392" y="1929384"/>
            <a:ext cx="502920" cy="50292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057400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8745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Outcomes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629400" y="265176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(Voltage_Diff, Temp_Diff, Current_Diff) aided dataset understanding.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outliers were found in the data.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produced good multi-output regression results across all targets.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be integrated into intelligent Battery Management Systems.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ML preprocessing best practices (scaling) were followed.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1888236"/>
            <a:ext cx="502920" cy="5029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00253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4592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LSTM and GRU deep learning models for temporal sequence modelling.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816352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04088" y="3058668"/>
            <a:ext cx="502920" cy="50292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31729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816352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real-time, IoT-based Battery Management System for live monitoring.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3986784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04088" y="4229100"/>
            <a:ext cx="502920" cy="5029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43434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986784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to cover a wider range of thermal operating conditions.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02920" y="5157216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4088" y="5399532"/>
            <a:ext cx="502920" cy="50292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551383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157216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closed-loop fast-charging protocols using machine learning.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309360" y="1645920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510528" y="1888236"/>
            <a:ext cx="502920" cy="5029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200253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164592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 alerts (e.g. email) triggered once batteries reach critical levels.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309360" y="2816352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510528" y="3058668"/>
            <a:ext cx="502920" cy="50292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3172968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78040" y="2816352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chemistry-dependent voltage signature analysis.</a:t>
            </a:r>
            <a:endParaRPr lang="en-US" sz="1250" dirty="0"/>
          </a:p>
        </p:txBody>
      </p:sp>
      <p:sp>
        <p:nvSpPr>
          <p:cNvPr id="30" name="Shape 21"/>
          <p:cNvSpPr/>
          <p:nvPr/>
        </p:nvSpPr>
        <p:spPr>
          <a:xfrm>
            <a:off x="6309360" y="3986784"/>
            <a:ext cx="5349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510528" y="4229100"/>
            <a:ext cx="502920" cy="50292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828" y="434340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78040" y="3986784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Sequential Monte Carlo (SMC) / MCMC methods for RUL estimation.</a:t>
            </a:r>
            <a:endParaRPr lang="en-US" sz="1250" dirty="0"/>
          </a:p>
        </p:txBody>
      </p:sp>
      <p:sp>
        <p:nvSpPr>
          <p:cNvPr id="34" name="Text 24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712" y="38404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36880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19860" y="203911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308" y="21945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688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1472" y="3154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programming language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3407512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90492" y="203911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940" y="21945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7512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572104" y="3154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manipulation &amp; analysis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6178144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61124" y="203911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572" y="219456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78144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42736" y="3154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8948776" y="17830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931756" y="203911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204" y="219456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948776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9113368" y="3154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plotting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2022196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005176" y="441655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624" y="457200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022196" y="5166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2186788" y="55321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data visualization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4792828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775808" y="441655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256" y="4572000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792828" y="5166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4957420" y="55321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modelling &amp; evaluation</a:t>
            </a:r>
            <a:endParaRPr lang="en-US" sz="1080" dirty="0"/>
          </a:p>
        </p:txBody>
      </p:sp>
      <p:sp>
        <p:nvSpPr>
          <p:cNvPr id="36" name="Shape 27"/>
          <p:cNvSpPr/>
          <p:nvPr/>
        </p:nvSpPr>
        <p:spPr>
          <a:xfrm>
            <a:off x="7563460" y="416052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8"/>
            </a:solidFill>
            <a:prstDash val="solid"/>
          </a:ln>
          <a:effectLst>
            <a:outerShdw sx="100000" sy="100000" kx="0" ky="0" algn="bl" rotWithShape="0" blurRad="88900" dist="38100" dir="2700000">
              <a:srgbClr val="0B2545">
                <a:alpha val="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8546440" y="4416552"/>
            <a:ext cx="640080" cy="640080"/>
          </a:xfrm>
          <a:prstGeom prst="ellipse">
            <a:avLst/>
          </a:prstGeom>
          <a:solidFill>
            <a:srgbClr val="E3F1EE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1888" y="4572000"/>
            <a:ext cx="329184" cy="32918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563460" y="5166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450" dirty="0"/>
          </a:p>
        </p:txBody>
      </p:sp>
      <p:sp>
        <p:nvSpPr>
          <p:cNvPr id="40" name="Text 30"/>
          <p:cNvSpPr/>
          <p:nvPr/>
        </p:nvSpPr>
        <p:spPr>
          <a:xfrm>
            <a:off x="7728052" y="55321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development &amp; execution</a:t>
            </a:r>
            <a:endParaRPr lang="en-US" sz="1080" dirty="0"/>
          </a:p>
        </p:txBody>
      </p:sp>
      <p:sp>
        <p:nvSpPr>
          <p:cNvPr id="41" name="Text 31"/>
          <p:cNvSpPr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Health Prediction &amp; RUL Estimation — CEP Report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31575" y="6510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645920"/>
            <a:ext cx="3840480" cy="3840480"/>
          </a:xfrm>
          <a:prstGeom prst="ellipse">
            <a:avLst/>
          </a:prstGeom>
          <a:solidFill>
            <a:srgbClr val="13345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Validated, Deployable Approach to Battery Health Prediction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9692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multi-output regression model successfully predicted both SOH and RUL using real NASA lithium-ion cycling data from cells B5, B6, and B7.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emerged as the dominant predictor of degradation, accounting for ~95.19% of feature importance.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prediction error and a high R² score demonstrate the model's ability to generalize across different battery cells.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E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system is suitable for deployment in intelligent battery analytics and real-time Battery Management System (BMS) applications.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532120"/>
            <a:ext cx="914400" cy="0"/>
          </a:xfrm>
          <a:prstGeom prst="line">
            <a:avLst/>
          </a:prstGeom>
          <a:noFill/>
          <a:ln w="38100">
            <a:solidFill>
              <a:srgbClr val="F2A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669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61996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Rabeea Anjum (23CSE09)  ·  Supervised by Dr. Muhammad Bux Alvi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Systems Engineering, The Islamia University of Bahawalpur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Health Prediction and Remaining Useful Life Estimation Using Machine Learning</dc:title>
  <dc:subject>PptxGenJS Presentation</dc:subject>
  <dc:creator>Rabeea Anjum</dc:creator>
  <cp:lastModifiedBy>Rabeea Anjum</cp:lastModifiedBy>
  <cp:revision>1</cp:revision>
  <dcterms:created xsi:type="dcterms:W3CDTF">2026-06-18T15:55:46Z</dcterms:created>
  <dcterms:modified xsi:type="dcterms:W3CDTF">2026-06-18T15:55:46Z</dcterms:modified>
</cp:coreProperties>
</file>